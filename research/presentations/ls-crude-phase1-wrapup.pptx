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17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Oil factor research desk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2560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알파를 발표하지 않는다. 무엇을 더 이상 연구하지 않는지를 발표한다.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3154680"/>
            <a:ext cx="21945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474720"/>
            <a:ext cx="3520440" cy="1965960"/>
          </a:xfrm>
          <a:prstGeom prst="rect">
            <a:avLst/>
          </a:prstGeom>
          <a:solidFill>
            <a:srgbClr val="EAE3D5"/>
          </a:solidFill>
          <a:ln w="9525">
            <a:solidFill>
              <a:srgbClr val="C9C2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11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40690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Cushing busy-ness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야간광 → 재고 없음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240" y="3474720"/>
            <a:ext cx="3520440" cy="1965960"/>
          </a:xfrm>
          <a:prstGeom prst="rect">
            <a:avLst/>
          </a:prstGeom>
          <a:solidFill>
            <a:srgbClr val="EAE3D5"/>
          </a:solidFill>
          <a:ln w="9525">
            <a:solidFill>
              <a:srgbClr val="C9C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3611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89120" y="40690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cycle-lag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OOS에서 보유에 패배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09560" y="3474720"/>
            <a:ext cx="3520440" cy="1965960"/>
          </a:xfrm>
          <a:prstGeom prst="rect">
            <a:avLst/>
          </a:prstGeom>
          <a:solidFill>
            <a:srgbClr val="EAE3D5"/>
          </a:solidFill>
          <a:ln w="9525">
            <a:solidFill>
              <a:srgbClr val="C9C2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611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092440" y="40690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 / 발언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전쟁 창에서는 반대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6350">
            <a:solidFill>
              <a:srgbClr val="C9C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65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alpha pitch  ·  Research operating system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08615" y="65653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 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1185855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LS-CRUDE  ·  PHASE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33895" y="164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처음 물은 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1097280"/>
          </a:xfrm>
          <a:prstGeom prst="rect">
            <a:avLst/>
          </a:prstGeom>
          <a:solidFill>
            <a:srgbClr val="EAE3D5"/>
          </a:solidFill>
          <a:ln w="6350">
            <a:solidFill>
              <a:srgbClr val="C9C2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4475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한국 유가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37560" y="1444752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울산·여수 현장 바쁨이 국내 유류가를 선행하는가.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11155680" cy="1097280"/>
          </a:xfrm>
          <a:prstGeom prst="rect">
            <a:avLst/>
          </a:prstGeom>
          <a:solidFill>
            <a:srgbClr val="EAE3D5"/>
          </a:solidFill>
          <a:ln w="6350">
            <a:solidFill>
              <a:srgbClr val="C9C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7919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Cushing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2679192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쿠싱이 바쁘면 WTI / 재고가 움직이는가.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3749040"/>
            <a:ext cx="11155680" cy="1097280"/>
          </a:xfrm>
          <a:prstGeom prst="rect">
            <a:avLst/>
          </a:prstGeom>
          <a:solidFill>
            <a:srgbClr val="EAE3D5"/>
          </a:solidFill>
          <a:ln w="6350">
            <a:solidFill>
              <a:srgbClr val="C9C2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1363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Helix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3913632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개입선 주식이 원유보다 먼저 진실을 말하는가.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6350">
            <a:solidFill>
              <a:srgbClr val="C9C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65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alpha pitch  ·  Research operating system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08615" y="65653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1185855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LS-CRUDE  ·  PHASE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33895" y="164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연구 운영체제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40680" cy="1389888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이용가능일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신호는 공시·결제 이후만. 당일 미래 종가 금지.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440680" cy="1389888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46304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84708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 2012–2019. 미접촉 OOS 2020–2026-09-01.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440680" cy="1389888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40156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사이즈가 바뀔 때 편도 10bp.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2834640"/>
            <a:ext cx="5440680" cy="1389888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01752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반증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340156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부호가 뒤집히면 ML·임계값으로 살리지 않는다.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389120"/>
            <a:ext cx="5440680" cy="1389888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5720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판정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95604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PARK / KILL. 알파 후보는 별도 승격.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2200" y="4389120"/>
            <a:ext cx="5440680" cy="1389888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5720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스플라이스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95604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HLX와 HOS를 한 줄로 잇지 않는다.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6350">
            <a:solidFill>
              <a:srgbClr val="C9C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65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alpha pitch  ·  Research operating system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408615" y="65653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1185855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LS-CRUDE  ·  PHASE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33895" y="164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KILL LIST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죽인 것이 1차 성과다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11173968" cy="4572000"/>
        </p:xfrm>
        <a:graphic>
          <a:graphicData uri="http://schemas.openxmlformats.org/drawingml/2006/table">
            <a:tbl>
              <a:tblPr/>
              <a:tblGrid>
                <a:gridCol w="1965960"/>
                <a:gridCol w="2880360"/>
                <a:gridCol w="4617720"/>
                <a:gridCol w="1709928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OOS / 검정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097 Helix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60일 지연 → 매수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엔진 0.45×  vs  B&amp;H 1.10×  vs  OSB 1.40×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095 HLX–WTI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어느 쪽이 선행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|r| ≤ 0.06 양방향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091 CFAM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야간광 = 쿠싱 바쁨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재고 28일 r = +0.05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점수금지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098 SPR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방출·발언 → 유가↓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9사건, 플레이스보와 동전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USO–OIH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서비스 캐치업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2020-03 USO −85%가 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6350">
            <a:solidFill>
              <a:srgbClr val="C9C2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6565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alpha pitch  ·  Research operating system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408615" y="65653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1185855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LS-CRUDE  ·  PHASE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33895" y="164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THE CHART WE KEEP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그렸지만 팔지 않는 그림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20440" cy="2148840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2.06×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터미널 NAV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2012–2026-09-01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06240" y="1234440"/>
            <a:ext cx="3520440" cy="2148840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417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0.69×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389120" y="22402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HLX 매수보유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09560" y="1234440"/>
            <a:ext cx="3520440" cy="2148840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1417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0.45×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092440" y="22402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얼린 게이트 OOS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2020–2026-09-01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611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경로에서는 보유보다 낫다. 2019에서 게이트를 얼리면 보유가 이긴다.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4.19×는 2022를 본 뒤 TP/SL/피라미드를 얹은 같은 길이다.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46177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github.com/Liam-Son/helix-factor-screen   ·   ls-crude 097 WALKFORWARD.md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5074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HLX  =  βt · OSB  +  εt     ε는 기록.  β가 이야기.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6350">
            <a:solidFill>
              <a:srgbClr val="C9C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65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alpha pitch  ·  Research operating system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08615" y="65653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1185855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LS-CRUDE  ·  PHASE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33895" y="164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WHAT REMAINS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경제적으로 남은 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73968" cy="1298448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99032"/>
            <a:ext cx="1645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노출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06040" y="1399032"/>
            <a:ext cx="8778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오일서비스는 원유·OIH와 같은 날 움직인다. OOS corr(HLX, OIH) ≈ 0.79.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11173968" cy="1298448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16352"/>
            <a:ext cx="1645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2816352"/>
            <a:ext cx="8778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FOMC 서프라이즈 +100bp ≈ 좁은 창 WTI −3%. 수준이 아니라 예상 오차.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4069080"/>
            <a:ext cx="11173968" cy="1298448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33672"/>
            <a:ext cx="1645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4233672"/>
            <a:ext cx="8778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SPR은 쇼크가 식은 뒤에만 하락과 겹친다. 전쟁 창에서는 유가가 오른다.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6350">
            <a:solidFill>
              <a:srgbClr val="C9C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65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alpha pitch  ·  Research operating system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08615" y="65653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1185855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LS-CRUDE  ·  PHASE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33895" y="164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OPERATING MEMO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현장에서 이렇게만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86400" cy="4572000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7" name="Shape 5"/>
          <p:cNvSpPr/>
          <p:nvPr/>
        </p:nvSpPr>
        <p:spPr>
          <a:xfrm>
            <a:off x="6190488" y="1280160"/>
            <a:ext cx="5486400" cy="4572000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64808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5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서비스 베타가 필요하면 OIH / XES.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쿠싱은 관측 목록. CFAM 점수 없음.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HOS는 60 거래일 후 새 카드.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64808" y="2057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개별 개입선을 선행 지표로 사지 않는다.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4808" y="3108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“고유가 → SPR”을 숏 신호로 쓰지 않는다.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64808" y="4160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2.06× 곡선을 마케팅하지 않는다.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6350">
            <a:solidFill>
              <a:srgbClr val="C9C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65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alpha pitch  ·  Research operating system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08615" y="65653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1185855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LS-CRUDE  ·  PHASE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33895" y="164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NEXT / NOT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2차가 열려도 되는 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0" cy="3246120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7" name="Shape 5"/>
          <p:cNvSpPr/>
          <p:nvPr/>
        </p:nvSpPr>
        <p:spPr>
          <a:xfrm>
            <a:off x="6190488" y="1234440"/>
            <a:ext cx="5486400" cy="3246120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64808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안 연다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HOS-only, 동일 게이트, 60일 후 1회.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분봉 FOMC 서프라이즈 (유료·고빈도).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재고 서프라이즈 vs 컨센서스.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64808" y="187452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 쇼핑.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HLX–HOS 스플라이스.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연설 횟수 ML.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쿠싱 바쁨 점수.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4617720"/>
            <a:ext cx="11173968" cy="1691640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548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 한 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04748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Pre-registered gates, frozen OOS, kill list. Helix cycle-lag and political SPR prints documented and rejected.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6350">
            <a:solidFill>
              <a:srgbClr val="C9C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65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alpha pitch  ·  Research operating system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08615" y="65653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ls-crude Phase 1 Wrap-up</dc:title>
  <dc:subject>Oil factor research desk — kill list, not alpha</dc:subject>
  <dc:creator>ls-crude</dc:creator>
  <cp:lastModifiedBy>ls-crude</cp:lastModifiedBy>
  <cp:revision>1</cp:revision>
  <dcterms:created xsi:type="dcterms:W3CDTF">2026-09-10T03:46:13Z</dcterms:created>
  <dcterms:modified xsi:type="dcterms:W3CDTF">2026-09-10T03:46:13Z</dcterms:modified>
</cp:coreProperties>
</file>